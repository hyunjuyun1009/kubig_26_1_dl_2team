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1" autoAdjust="0"/>
    <p:restoredTop sz="94660"/>
  </p:normalViewPr>
  <p:slideViewPr>
    <p:cSldViewPr snapToGrid="0" showGuides="1">
      <p:cViewPr varScale="1">
        <p:scale>
          <a:sx n="46" d="100"/>
          <a:sy n="46" d="100"/>
        </p:scale>
        <p:origin x="67" y="93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A3D18-A3EA-4696-B142-EA69BA613DBC}" type="datetimeFigureOut">
              <a:rPr lang="ko-KR" altLang="en-US" smtClean="0"/>
              <a:t>2026-02-15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75AA2-6C2F-44DF-9A3B-A459399559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303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A3D18-A3EA-4696-B142-EA69BA613DBC}" type="datetimeFigureOut">
              <a:rPr lang="ko-KR" altLang="en-US" smtClean="0"/>
              <a:t>2026-02-15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75AA2-6C2F-44DF-9A3B-A459399559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9781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A3D18-A3EA-4696-B142-EA69BA613DBC}" type="datetimeFigureOut">
              <a:rPr lang="ko-KR" altLang="en-US" smtClean="0"/>
              <a:t>2026-02-15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75AA2-6C2F-44DF-9A3B-A459399559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6268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A3D18-A3EA-4696-B142-EA69BA613DBC}" type="datetimeFigureOut">
              <a:rPr lang="ko-KR" altLang="en-US" smtClean="0"/>
              <a:t>2026-02-15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75AA2-6C2F-44DF-9A3B-A459399559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985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A3D18-A3EA-4696-B142-EA69BA613DBC}" type="datetimeFigureOut">
              <a:rPr lang="ko-KR" altLang="en-US" smtClean="0"/>
              <a:t>2026-02-15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75AA2-6C2F-44DF-9A3B-A459399559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1291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A3D18-A3EA-4696-B142-EA69BA613DBC}" type="datetimeFigureOut">
              <a:rPr lang="ko-KR" altLang="en-US" smtClean="0"/>
              <a:t>2026-02-15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75AA2-6C2F-44DF-9A3B-A459399559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6788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A3D18-A3EA-4696-B142-EA69BA613DBC}" type="datetimeFigureOut">
              <a:rPr lang="ko-KR" altLang="en-US" smtClean="0"/>
              <a:t>2026-02-15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75AA2-6C2F-44DF-9A3B-A459399559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363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A3D18-A3EA-4696-B142-EA69BA613DBC}" type="datetimeFigureOut">
              <a:rPr lang="ko-KR" altLang="en-US" smtClean="0"/>
              <a:t>2026-02-15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75AA2-6C2F-44DF-9A3B-A459399559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4013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A3D18-A3EA-4696-B142-EA69BA613DBC}" type="datetimeFigureOut">
              <a:rPr lang="ko-KR" altLang="en-US" smtClean="0"/>
              <a:t>2026-02-15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75AA2-6C2F-44DF-9A3B-A459399559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784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A3D18-A3EA-4696-B142-EA69BA613DBC}" type="datetimeFigureOut">
              <a:rPr lang="ko-KR" altLang="en-US" smtClean="0"/>
              <a:t>2026-02-15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75AA2-6C2F-44DF-9A3B-A459399559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3773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A3D18-A3EA-4696-B142-EA69BA613DBC}" type="datetimeFigureOut">
              <a:rPr lang="ko-KR" altLang="en-US" smtClean="0"/>
              <a:t>2026-02-15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75AA2-6C2F-44DF-9A3B-A459399559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9791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FA3D18-A3EA-4696-B142-EA69BA613DBC}" type="datetimeFigureOut">
              <a:rPr lang="ko-KR" altLang="en-US" smtClean="0"/>
              <a:t>2026-02-15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C75AA2-6C2F-44DF-9A3B-A459399559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7203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 smtClean="0"/>
              <a:t>ControlNet </a:t>
            </a:r>
            <a:r>
              <a:rPr lang="ko-KR" altLang="en-US" b="1" dirty="0" smtClean="0"/>
              <a:t>기반 </a:t>
            </a:r>
            <a:r>
              <a:rPr lang="en-US" altLang="ko-KR" b="1" dirty="0" smtClean="0"/>
              <a:t>Adaptive AAC </a:t>
            </a:r>
            <a:r>
              <a:rPr lang="ko-KR" altLang="en-US" b="1" dirty="0" smtClean="0"/>
              <a:t>이미지 생성 시스템</a:t>
            </a:r>
            <a:endParaRPr lang="ko-KR" altLang="en-US" b="1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/>
              <a:t>부제</a:t>
            </a:r>
            <a:r>
              <a:rPr lang="en-US" altLang="ko-KR" dirty="0" smtClean="0"/>
              <a:t>: </a:t>
            </a:r>
            <a:r>
              <a:rPr lang="ko-KR" altLang="en-US" dirty="0" smtClean="0"/>
              <a:t>환자 </a:t>
            </a:r>
            <a:r>
              <a:rPr lang="ko-KR" altLang="en-US" dirty="0" err="1" smtClean="0"/>
              <a:t>중증도별</a:t>
            </a:r>
            <a:r>
              <a:rPr lang="ko-KR" altLang="en-US" dirty="0" smtClean="0"/>
              <a:t> 최적화 연구</a:t>
            </a:r>
            <a:endParaRPr lang="en-US" altLang="ko-KR" dirty="0" smtClean="0"/>
          </a:p>
          <a:p>
            <a:r>
              <a:rPr lang="ko-KR" altLang="en-US" dirty="0" err="1" smtClean="0"/>
              <a:t>팀명</a:t>
            </a:r>
            <a:r>
              <a:rPr lang="en-US" altLang="ko-KR" dirty="0" smtClean="0"/>
              <a:t>: KUBIG DL team 2</a:t>
            </a:r>
          </a:p>
          <a:p>
            <a:r>
              <a:rPr lang="ko-KR" altLang="en-US" dirty="0" smtClean="0"/>
              <a:t>팀원</a:t>
            </a:r>
            <a:r>
              <a:rPr lang="en-US" altLang="ko-KR" dirty="0" smtClean="0"/>
              <a:t>: 22</a:t>
            </a:r>
            <a:r>
              <a:rPr lang="ko-KR" altLang="en-US" dirty="0" smtClean="0"/>
              <a:t>기 신지민</a:t>
            </a:r>
            <a:r>
              <a:rPr lang="en-US" altLang="ko-KR" dirty="0" smtClean="0"/>
              <a:t>, 23</a:t>
            </a:r>
            <a:r>
              <a:rPr lang="ko-KR" altLang="en-US" dirty="0" smtClean="0"/>
              <a:t>기 이지윤</a:t>
            </a:r>
            <a:r>
              <a:rPr lang="en-US" altLang="ko-KR" dirty="0" smtClean="0"/>
              <a:t>, 23</a:t>
            </a:r>
            <a:r>
              <a:rPr lang="ko-KR" altLang="en-US" dirty="0" smtClean="0"/>
              <a:t>기 윤현주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965305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목차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ko-KR" altLang="en-US" dirty="0" smtClean="0"/>
              <a:t>프로젝트 개요 </a:t>
            </a:r>
            <a:r>
              <a:rPr lang="en-US" altLang="ko-KR" dirty="0" smtClean="0"/>
              <a:t>&amp; </a:t>
            </a:r>
            <a:r>
              <a:rPr lang="ko-KR" altLang="en-US" dirty="0" smtClean="0"/>
              <a:t>배경</a:t>
            </a:r>
            <a:endParaRPr lang="en-US" altLang="ko-KR" dirty="0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 smtClean="0"/>
              <a:t>문제 정의</a:t>
            </a:r>
            <a:endParaRPr lang="en-US" altLang="ko-KR" dirty="0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 smtClean="0"/>
              <a:t>우리의 솔루션</a:t>
            </a:r>
            <a:endParaRPr lang="en-US" altLang="ko-KR" dirty="0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 smtClean="0"/>
              <a:t>실험 설계</a:t>
            </a:r>
            <a:endParaRPr lang="en-US" altLang="ko-KR" dirty="0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 smtClean="0"/>
              <a:t>실험 결과</a:t>
            </a:r>
            <a:endParaRPr lang="en-US" altLang="ko-KR" dirty="0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 err="1" smtClean="0"/>
              <a:t>적응형</a:t>
            </a:r>
            <a:r>
              <a:rPr lang="ko-KR" altLang="en-US" dirty="0" smtClean="0"/>
              <a:t> </a:t>
            </a:r>
            <a:r>
              <a:rPr lang="en-US" altLang="ko-KR" dirty="0" smtClean="0"/>
              <a:t>AAC </a:t>
            </a:r>
            <a:r>
              <a:rPr lang="ko-KR" altLang="en-US" dirty="0" smtClean="0"/>
              <a:t>시스템 제안</a:t>
            </a:r>
            <a:endParaRPr lang="en-US" altLang="ko-KR" dirty="0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 smtClean="0"/>
              <a:t>기대효과 </a:t>
            </a:r>
            <a:r>
              <a:rPr lang="en-US" altLang="ko-KR" dirty="0" smtClean="0"/>
              <a:t>&amp; </a:t>
            </a:r>
            <a:r>
              <a:rPr lang="ko-KR" altLang="en-US" dirty="0" smtClean="0"/>
              <a:t>한계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791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프로젝트 개요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참고 </a:t>
            </a:r>
            <a:r>
              <a:rPr lang="en-US" altLang="ko-KR" dirty="0" smtClean="0"/>
              <a:t>Demo: KAIST Visual AI Group – Diffusion 2025 Demo</a:t>
            </a:r>
          </a:p>
          <a:p>
            <a:r>
              <a:rPr lang="ko-KR" altLang="en-US" dirty="0" smtClean="0"/>
              <a:t>핵심 기술</a:t>
            </a:r>
            <a:r>
              <a:rPr lang="en-US" altLang="ko-KR" dirty="0" smtClean="0"/>
              <a:t>: ControlNet + Stable Diffusion</a:t>
            </a:r>
          </a:p>
          <a:p>
            <a:r>
              <a:rPr lang="ko-KR" altLang="en-US" dirty="0" smtClean="0"/>
              <a:t>목표</a:t>
            </a:r>
            <a:r>
              <a:rPr lang="en-US" altLang="ko-KR" dirty="0" smtClean="0"/>
              <a:t>: </a:t>
            </a:r>
            <a:r>
              <a:rPr lang="ko-KR" altLang="en-US" dirty="0" smtClean="0"/>
              <a:t>말하기</a:t>
            </a:r>
            <a:r>
              <a:rPr lang="en-US" altLang="ko-KR" dirty="0" smtClean="0"/>
              <a:t> </a:t>
            </a:r>
            <a:r>
              <a:rPr lang="ko-KR" altLang="en-US" dirty="0" smtClean="0"/>
              <a:t>어려운 환자들이 스케치로 </a:t>
            </a:r>
            <a:r>
              <a:rPr lang="ko-KR" altLang="en-US" dirty="0" err="1" smtClean="0"/>
              <a:t>의사소통할</a:t>
            </a:r>
            <a:r>
              <a:rPr lang="ko-KR" altLang="en-US" dirty="0" smtClean="0"/>
              <a:t> 수 있도록 지원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45395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AAC</a:t>
            </a:r>
            <a:r>
              <a:rPr lang="ko-KR" altLang="en-US" dirty="0" smtClean="0"/>
              <a:t>란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Augmentative and Alternative Communication (</a:t>
            </a:r>
            <a:r>
              <a:rPr lang="ko-KR" altLang="en-US" dirty="0" smtClean="0"/>
              <a:t>대체 의사소통</a:t>
            </a:r>
            <a:r>
              <a:rPr lang="en-US" altLang="ko-KR" dirty="0" smtClean="0"/>
              <a:t>)</a:t>
            </a:r>
          </a:p>
          <a:p>
            <a:r>
              <a:rPr lang="ko-KR" altLang="en-US" dirty="0" smtClean="0"/>
              <a:t>대상 환자군</a:t>
            </a:r>
            <a:r>
              <a:rPr lang="en-US" altLang="ko-KR" dirty="0" smtClean="0"/>
              <a:t>:</a:t>
            </a:r>
          </a:p>
          <a:p>
            <a:pPr lvl="1"/>
            <a:r>
              <a:rPr lang="ko-KR" altLang="en-US" dirty="0" smtClean="0"/>
              <a:t>뇌졸중 후 실어증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ALS, </a:t>
            </a:r>
            <a:r>
              <a:rPr lang="ko-KR" altLang="en-US" dirty="0" smtClean="0"/>
              <a:t>파킨슨병 등 진행성 신경계 질환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자폐 스펙트럼 장애</a:t>
            </a:r>
            <a:r>
              <a:rPr lang="en-US" altLang="ko-KR" dirty="0" smtClean="0"/>
              <a:t>, </a:t>
            </a:r>
            <a:r>
              <a:rPr lang="ko-KR" altLang="en-US" dirty="0" smtClean="0"/>
              <a:t>뇌성마비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기관삽관으로 말 못하는 중환자실 환자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32036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현재 </a:t>
            </a:r>
            <a:r>
              <a:rPr lang="en-US" altLang="ko-KR" dirty="0" smtClean="0"/>
              <a:t>AAC </a:t>
            </a:r>
            <a:r>
              <a:rPr lang="ko-KR" altLang="en-US" dirty="0" smtClean="0"/>
              <a:t>시스템의 한계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ko-KR" altLang="en-US" dirty="0" smtClean="0"/>
              <a:t>고정된 심볼만 제공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물</a:t>
            </a:r>
            <a:r>
              <a:rPr lang="en-US" altLang="ko-KR" dirty="0" smtClean="0"/>
              <a:t>, </a:t>
            </a:r>
            <a:r>
              <a:rPr lang="ko-KR" altLang="en-US" dirty="0" smtClean="0"/>
              <a:t>화장실 같은 기본 개념 단어만 가능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통증의 강도</a:t>
            </a:r>
            <a:r>
              <a:rPr lang="en-US" altLang="ko-KR" dirty="0" smtClean="0"/>
              <a:t>/</a:t>
            </a:r>
            <a:r>
              <a:rPr lang="ko-KR" altLang="en-US" dirty="0" smtClean="0"/>
              <a:t>종류 구분 불가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추상적 감정 표현 불가</a:t>
            </a:r>
            <a:endParaRPr lang="en-US" altLang="ko-KR" dirty="0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 smtClean="0"/>
              <a:t>환자 개인차 무시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중증 환자</a:t>
            </a:r>
            <a:r>
              <a:rPr lang="en-US" altLang="ko-KR" dirty="0" smtClean="0"/>
              <a:t>: </a:t>
            </a:r>
            <a:r>
              <a:rPr lang="ko-KR" altLang="en-US" dirty="0" smtClean="0"/>
              <a:t>단순한 그림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경증 환자</a:t>
            </a:r>
            <a:r>
              <a:rPr lang="en-US" altLang="ko-KR" dirty="0" smtClean="0"/>
              <a:t>: </a:t>
            </a:r>
            <a:r>
              <a:rPr lang="ko-KR" altLang="en-US" dirty="0" smtClean="0"/>
              <a:t>상대적 정교한 그림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모두에게 같은 시스템 적용 </a:t>
            </a:r>
            <a:r>
              <a:rPr lang="en-US" altLang="ko-KR" dirty="0" smtClean="0">
                <a:sym typeface="Wingdings" panose="05000000000000000000" pitchFamily="2" charset="2"/>
              </a:rPr>
              <a:t> </a:t>
            </a:r>
            <a:r>
              <a:rPr lang="ko-KR" altLang="en-US" dirty="0" smtClean="0">
                <a:sym typeface="Wingdings" panose="05000000000000000000" pitchFamily="2" charset="2"/>
              </a:rPr>
              <a:t>비효율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pPr marL="514350" indent="-514350">
              <a:buFont typeface="+mj-lt"/>
              <a:buAutoNum type="arabicPeriod"/>
            </a:pPr>
            <a:r>
              <a:rPr lang="ko-KR" altLang="en-US" dirty="0" smtClean="0">
                <a:sym typeface="Wingdings" panose="05000000000000000000" pitchFamily="2" charset="2"/>
              </a:rPr>
              <a:t>일회성 표현만 가능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pPr lvl="1"/>
            <a:r>
              <a:rPr lang="ko-KR" altLang="en-US" dirty="0" smtClean="0">
                <a:sym typeface="Wingdings" panose="05000000000000000000" pitchFamily="2" charset="2"/>
              </a:rPr>
              <a:t>점진적 정보 추가 불가능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686619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우리의 솔루션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환자가 직접 그린 스케치 </a:t>
            </a:r>
            <a:r>
              <a:rPr lang="en-US" altLang="ko-KR" dirty="0" smtClean="0">
                <a:sym typeface="Wingdings" panose="05000000000000000000" pitchFamily="2" charset="2"/>
              </a:rPr>
              <a:t> ControlNet  </a:t>
            </a:r>
            <a:r>
              <a:rPr lang="ko-KR" altLang="en-US" dirty="0" smtClean="0">
                <a:sym typeface="Wingdings" panose="05000000000000000000" pitchFamily="2" charset="2"/>
              </a:rPr>
              <a:t>명확한 이미지 생성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r>
              <a:rPr lang="ko-KR" altLang="en-US" dirty="0" err="1" smtClean="0">
                <a:sym typeface="Wingdings" panose="05000000000000000000" pitchFamily="2" charset="2"/>
              </a:rPr>
              <a:t>차별점</a:t>
            </a:r>
            <a:r>
              <a:rPr lang="en-US" altLang="ko-KR" dirty="0" smtClean="0">
                <a:sym typeface="Wingdings" panose="05000000000000000000" pitchFamily="2" charset="2"/>
              </a:rPr>
              <a:t>:</a:t>
            </a:r>
          </a:p>
          <a:p>
            <a:pPr lvl="1"/>
            <a:r>
              <a:rPr lang="ko-KR" altLang="en-US" dirty="0" smtClean="0"/>
              <a:t>스케치 </a:t>
            </a:r>
            <a:r>
              <a:rPr lang="ko-KR" altLang="en-US" dirty="0"/>
              <a:t>구조 보존</a:t>
            </a:r>
            <a:r>
              <a:rPr lang="en-US" altLang="ko-KR" dirty="0"/>
              <a:t>: </a:t>
            </a:r>
            <a:r>
              <a:rPr lang="ko-KR" altLang="en-US" dirty="0"/>
              <a:t>환자가 그린 형태 그대로 유지</a:t>
            </a:r>
          </a:p>
          <a:p>
            <a:pPr lvl="1"/>
            <a:r>
              <a:rPr lang="ko-KR" altLang="en-US" dirty="0" smtClean="0"/>
              <a:t>의미 </a:t>
            </a:r>
            <a:r>
              <a:rPr lang="ko-KR" altLang="en-US" dirty="0"/>
              <a:t>명확화</a:t>
            </a:r>
            <a:r>
              <a:rPr lang="en-US" altLang="ko-KR" dirty="0"/>
              <a:t>: </a:t>
            </a:r>
            <a:r>
              <a:rPr lang="ko-KR" altLang="en-US" dirty="0"/>
              <a:t>단순한 스케치도 이해 가능한 이미지로 변환</a:t>
            </a:r>
          </a:p>
          <a:p>
            <a:pPr lvl="1"/>
            <a:r>
              <a:rPr lang="ko-KR" altLang="en-US" dirty="0" smtClean="0"/>
              <a:t>점진적 </a:t>
            </a:r>
            <a:r>
              <a:rPr lang="ko-KR" altLang="en-US" dirty="0"/>
              <a:t>추가 가능</a:t>
            </a:r>
            <a:r>
              <a:rPr lang="en-US" altLang="ko-KR" dirty="0"/>
              <a:t>: </a:t>
            </a:r>
            <a:r>
              <a:rPr lang="ko-KR" altLang="en-US" dirty="0"/>
              <a:t>새 요소 추가해도 이전 요소 유지</a:t>
            </a:r>
          </a:p>
          <a:p>
            <a:pPr lvl="1"/>
            <a:r>
              <a:rPr lang="ko-KR" altLang="en-US" dirty="0" err="1" smtClean="0"/>
              <a:t>적응형</a:t>
            </a:r>
            <a:r>
              <a:rPr lang="ko-KR" altLang="en-US" dirty="0" smtClean="0"/>
              <a:t> </a:t>
            </a:r>
            <a:r>
              <a:rPr lang="ko-KR" altLang="en-US" dirty="0"/>
              <a:t>최적화</a:t>
            </a:r>
            <a:r>
              <a:rPr lang="en-US" altLang="ko-KR" dirty="0"/>
              <a:t>: </a:t>
            </a:r>
            <a:r>
              <a:rPr lang="ko-KR" altLang="en-US" dirty="0" err="1"/>
              <a:t>환자별</a:t>
            </a:r>
            <a:r>
              <a:rPr lang="ko-KR" altLang="en-US" dirty="0"/>
              <a:t> 최적 </a:t>
            </a:r>
            <a:r>
              <a:rPr lang="en-US" altLang="ko-KR" dirty="0"/>
              <a:t>CFG Scale </a:t>
            </a:r>
            <a:r>
              <a:rPr lang="ko-KR" altLang="en-US" dirty="0"/>
              <a:t>자동 </a:t>
            </a:r>
            <a:r>
              <a:rPr lang="ko-KR" altLang="en-US" dirty="0" smtClean="0"/>
              <a:t>선택</a:t>
            </a:r>
            <a:endParaRPr lang="en-US" altLang="ko-KR" dirty="0" smtClean="0"/>
          </a:p>
          <a:p>
            <a:endParaRPr lang="ko-KR" altLang="en-US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40328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데이터셋</a:t>
            </a:r>
            <a:r>
              <a:rPr lang="ko-KR" altLang="en-US" dirty="0" smtClean="0"/>
              <a:t> 선정 전략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총 규모</a:t>
            </a:r>
            <a:r>
              <a:rPr lang="en-US" altLang="ko-KR" dirty="0" smtClean="0"/>
              <a:t>: 10</a:t>
            </a:r>
            <a:r>
              <a:rPr lang="ko-KR" altLang="en-US" dirty="0" smtClean="0"/>
              <a:t>개 카테고리 </a:t>
            </a:r>
            <a:r>
              <a:rPr lang="en-US" altLang="ko-KR" dirty="0" smtClean="0"/>
              <a:t>* 10</a:t>
            </a:r>
            <a:r>
              <a:rPr lang="ko-KR" altLang="en-US" dirty="0" smtClean="0"/>
              <a:t>장</a:t>
            </a:r>
            <a:endParaRPr lang="en-US" altLang="ko-KR" dirty="0" smtClean="0"/>
          </a:p>
          <a:p>
            <a:r>
              <a:rPr lang="ko-KR" altLang="en-US" dirty="0" smtClean="0"/>
              <a:t>선정 기준</a:t>
            </a:r>
            <a:r>
              <a:rPr lang="en-US" altLang="ko-KR" dirty="0" smtClean="0"/>
              <a:t>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ko-KR" dirty="0"/>
              <a:t>AAC </a:t>
            </a:r>
            <a:r>
              <a:rPr lang="ko-KR" altLang="en-US" dirty="0"/>
              <a:t>실용성 </a:t>
            </a:r>
            <a:r>
              <a:rPr lang="en-US" altLang="ko-KR" dirty="0"/>
              <a:t>(</a:t>
            </a:r>
            <a:r>
              <a:rPr lang="ko-KR" altLang="en-US" dirty="0"/>
              <a:t>환자가 자주 표현하고 싶은 내용</a:t>
            </a:r>
            <a:r>
              <a:rPr lang="en-US" altLang="ko-KR" dirty="0"/>
              <a:t>)</a:t>
            </a:r>
          </a:p>
          <a:p>
            <a:pPr marL="971550" lvl="1" indent="-514350">
              <a:buFont typeface="+mj-lt"/>
              <a:buAutoNum type="arabicPeriod"/>
            </a:pPr>
            <a:r>
              <a:rPr lang="ko-KR" altLang="en-US" dirty="0"/>
              <a:t>추상도 스펙트럼 </a:t>
            </a:r>
            <a:r>
              <a:rPr lang="en-US" altLang="ko-KR" dirty="0"/>
              <a:t>(</a:t>
            </a:r>
            <a:r>
              <a:rPr lang="ko-KR" altLang="en-US" dirty="0"/>
              <a:t>구체적 → 매우 추상적</a:t>
            </a:r>
            <a:r>
              <a:rPr lang="en-US" altLang="ko-KR" dirty="0"/>
              <a:t>)</a:t>
            </a:r>
          </a:p>
          <a:p>
            <a:pPr marL="971550" lvl="1" indent="-514350">
              <a:buFont typeface="+mj-lt"/>
              <a:buAutoNum type="arabicPeriod"/>
            </a:pPr>
            <a:r>
              <a:rPr lang="ko-KR" altLang="en-US" dirty="0"/>
              <a:t>기존 </a:t>
            </a:r>
            <a:r>
              <a:rPr lang="en-US" altLang="ko-KR" dirty="0"/>
              <a:t>AAC </a:t>
            </a:r>
            <a:r>
              <a:rPr lang="ko-KR" altLang="en-US" dirty="0"/>
              <a:t>한계 공략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ko-KR" dirty="0"/>
              <a:t>QuickDraw </a:t>
            </a:r>
            <a:r>
              <a:rPr lang="ko-KR" altLang="en-US" dirty="0"/>
              <a:t>데이터 </a:t>
            </a:r>
            <a:r>
              <a:rPr lang="ko-KR" altLang="en-US" dirty="0" smtClean="0"/>
              <a:t>가용성</a:t>
            </a:r>
            <a:endParaRPr lang="en-US" altLang="ko-KR" dirty="0"/>
          </a:p>
          <a:p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485246"/>
              </p:ext>
            </p:extLst>
          </p:nvPr>
        </p:nvGraphicFramePr>
        <p:xfrm>
          <a:off x="838200" y="4385062"/>
          <a:ext cx="10515600" cy="18592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22225449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8687514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2502325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2770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Tier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>
                          <a:effectLst/>
                        </a:rPr>
                        <a:t>추상도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>
                          <a:effectLst/>
                        </a:rPr>
                        <a:t>카테고리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>
                          <a:effectLst/>
                        </a:rPr>
                        <a:t>목적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685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Tier 1</a:t>
                      </a:r>
                      <a:endParaRPr lang="en-US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dirty="0" smtClean="0">
                          <a:effectLst/>
                        </a:rPr>
                        <a:t>구체적</a:t>
                      </a:r>
                      <a:endParaRPr lang="ko-KR" altLang="en-US" dirty="0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water, toilet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>
                          <a:effectLst/>
                        </a:rPr>
                        <a:t>기본 성능 확인 </a:t>
                      </a:r>
                      <a:r>
                        <a:rPr lang="en-US" altLang="ko-KR">
                          <a:effectLst/>
                        </a:rPr>
                        <a:t>(</a:t>
                      </a:r>
                      <a:r>
                        <a:rPr lang="ko-KR" altLang="en-US">
                          <a:effectLst/>
                        </a:rPr>
                        <a:t>대조군</a:t>
                      </a:r>
                      <a:r>
                        <a:rPr lang="en-US" altLang="ko-KR">
                          <a:effectLst/>
                        </a:rPr>
                        <a:t>)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1111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Tier 2</a:t>
                      </a:r>
                      <a:endParaRPr lang="en-US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dirty="0" smtClean="0">
                          <a:effectLst/>
                        </a:rPr>
                        <a:t>은유적</a:t>
                      </a:r>
                      <a:endParaRPr lang="ko-KR" altLang="en-US" dirty="0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lightning, knife, zigzag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>
                          <a:effectLst/>
                        </a:rPr>
                        <a:t>통증 강도</a:t>
                      </a:r>
                      <a:r>
                        <a:rPr lang="en-US" altLang="ko-KR">
                          <a:effectLst/>
                        </a:rPr>
                        <a:t>/</a:t>
                      </a:r>
                      <a:r>
                        <a:rPr lang="ko-KR" altLang="en-US">
                          <a:effectLst/>
                        </a:rPr>
                        <a:t>종류 표현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03204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Tier 3</a:t>
                      </a:r>
                      <a:endParaRPr lang="en-US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dirty="0" smtClean="0">
                          <a:effectLst/>
                        </a:rPr>
                        <a:t>추상적</a:t>
                      </a:r>
                      <a:endParaRPr lang="ko-KR" altLang="en-US" dirty="0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scared face, storm, broken heart, prison bars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dirty="0">
                          <a:effectLst/>
                        </a:rPr>
                        <a:t>복합 감정 표현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4558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7463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실험</a:t>
            </a:r>
            <a:r>
              <a:rPr lang="en-US" altLang="ko-KR" dirty="0" smtClean="0"/>
              <a:t>1 – </a:t>
            </a:r>
            <a:r>
              <a:rPr lang="ko-KR" altLang="en-US" dirty="0" smtClean="0"/>
              <a:t>스케치 </a:t>
            </a:r>
            <a:r>
              <a:rPr lang="ko-KR" altLang="en-US" dirty="0" err="1" smtClean="0"/>
              <a:t>품질별</a:t>
            </a:r>
            <a:r>
              <a:rPr lang="ko-KR" altLang="en-US" dirty="0" smtClean="0"/>
              <a:t> </a:t>
            </a:r>
            <a:r>
              <a:rPr lang="en-US" altLang="ko-KR" dirty="0" smtClean="0"/>
              <a:t>CFG Scale </a:t>
            </a:r>
            <a:r>
              <a:rPr lang="ko-KR" altLang="en-US" dirty="0" smtClean="0"/>
              <a:t>최적화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 smtClean="0"/>
              <a:t>연구 질문</a:t>
            </a:r>
            <a:r>
              <a:rPr lang="en-US" altLang="ko-KR" dirty="0" smtClean="0"/>
              <a:t>:</a:t>
            </a:r>
          </a:p>
          <a:p>
            <a:r>
              <a:rPr lang="ko-KR" altLang="en-US" dirty="0" smtClean="0"/>
              <a:t>환자 중증도</a:t>
            </a:r>
            <a:r>
              <a:rPr lang="en-US" altLang="ko-KR" dirty="0" smtClean="0"/>
              <a:t>(</a:t>
            </a:r>
            <a:r>
              <a:rPr lang="ko-KR" altLang="en-US" dirty="0" smtClean="0"/>
              <a:t>스케치 품질</a:t>
            </a:r>
            <a:r>
              <a:rPr lang="en-US" altLang="ko-KR" dirty="0" smtClean="0"/>
              <a:t>)</a:t>
            </a:r>
            <a:r>
              <a:rPr lang="ko-KR" altLang="en-US" dirty="0" smtClean="0"/>
              <a:t>에 따라 최적의 </a:t>
            </a:r>
            <a:r>
              <a:rPr lang="en-US" altLang="ko-KR" dirty="0" smtClean="0"/>
              <a:t>CFG Scale</a:t>
            </a:r>
            <a:r>
              <a:rPr lang="ko-KR" altLang="en-US" dirty="0" smtClean="0"/>
              <a:t>이 다른가</a:t>
            </a:r>
            <a:r>
              <a:rPr lang="en-US" altLang="ko-KR" dirty="0" smtClean="0"/>
              <a:t>?</a:t>
            </a:r>
          </a:p>
          <a:p>
            <a:pPr marL="0" indent="0">
              <a:buNone/>
            </a:pPr>
            <a:r>
              <a:rPr lang="ko-KR" altLang="en-US" dirty="0" smtClean="0"/>
              <a:t>실험 설계</a:t>
            </a:r>
            <a:r>
              <a:rPr lang="en-US" altLang="ko-KR" dirty="0"/>
              <a:t>: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706127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실험</a:t>
            </a:r>
            <a:r>
              <a:rPr lang="en-US" altLang="ko-KR" dirty="0"/>
              <a:t>2</a:t>
            </a:r>
            <a:r>
              <a:rPr lang="en-US" altLang="ko-KR" dirty="0" smtClean="0"/>
              <a:t> – </a:t>
            </a:r>
            <a:r>
              <a:rPr lang="ko-KR" altLang="en-US" dirty="0" smtClean="0"/>
              <a:t>점진적 의사소통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 smtClean="0"/>
              <a:t>연구 질문</a:t>
            </a:r>
            <a:r>
              <a:rPr lang="en-US" altLang="ko-KR" dirty="0" smtClean="0"/>
              <a:t>:</a:t>
            </a:r>
          </a:p>
          <a:p>
            <a:r>
              <a:rPr lang="ko-KR" altLang="en-US" dirty="0" smtClean="0"/>
              <a:t>환자가 점진적으로 정보를 추가할 때</a:t>
            </a:r>
            <a:r>
              <a:rPr lang="en-US" altLang="ko-KR" dirty="0" smtClean="0"/>
              <a:t>, ControlNet</a:t>
            </a:r>
            <a:r>
              <a:rPr lang="ko-KR" altLang="en-US" dirty="0" smtClean="0"/>
              <a:t>이 이전 요소를 보존하는가</a:t>
            </a:r>
            <a:r>
              <a:rPr lang="en-US" altLang="ko-KR" dirty="0" smtClean="0"/>
              <a:t>?</a:t>
            </a:r>
          </a:p>
          <a:p>
            <a:r>
              <a:rPr lang="ko-KR" altLang="en-US" dirty="0" smtClean="0"/>
              <a:t>환자의 상황과 표현</a:t>
            </a:r>
            <a:r>
              <a:rPr lang="en-US" altLang="ko-KR" dirty="0" smtClean="0"/>
              <a:t>, </a:t>
            </a:r>
            <a:r>
              <a:rPr lang="ko-KR" altLang="en-US" dirty="0" smtClean="0"/>
              <a:t>그리고</a:t>
            </a:r>
            <a:endParaRPr lang="en-US" altLang="ko-KR" dirty="0" smtClean="0"/>
          </a:p>
          <a:p>
            <a:pPr marL="0" indent="0">
              <a:buNone/>
            </a:pPr>
            <a:r>
              <a:rPr lang="ko-KR" altLang="en-US" dirty="0" smtClean="0"/>
              <a:t>실제 시나리오</a:t>
            </a:r>
            <a:r>
              <a:rPr lang="en-US" altLang="ko-KR" dirty="0" smtClean="0"/>
              <a:t>:</a:t>
            </a:r>
          </a:p>
          <a:p>
            <a:pPr marL="0" indent="0">
              <a:buNone/>
            </a:pP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730013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실험</a:t>
            </a:r>
            <a:r>
              <a:rPr lang="en-US" altLang="ko-KR" dirty="0" smtClean="0"/>
              <a:t>2 </a:t>
            </a:r>
            <a:r>
              <a:rPr lang="ko-KR" altLang="en-US" dirty="0" smtClean="0"/>
              <a:t>결과</a:t>
            </a:r>
            <a:endParaRPr lang="ko-KR" altLang="en-US" dirty="0"/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7177" y="1027906"/>
            <a:ext cx="5287823" cy="3596794"/>
          </a:xfrm>
        </p:spPr>
      </p:pic>
      <p:sp>
        <p:nvSpPr>
          <p:cNvPr id="7" name="내용 개체 틀 2"/>
          <p:cNvSpPr txBox="1">
            <a:spLocks/>
          </p:cNvSpPr>
          <p:nvPr/>
        </p:nvSpPr>
        <p:spPr>
          <a:xfrm>
            <a:off x="838200" y="1825625"/>
            <a:ext cx="4569686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 dirty="0" smtClean="0"/>
              <a:t>구조 유연성</a:t>
            </a:r>
            <a:r>
              <a:rPr lang="en-US" altLang="ko-KR" sz="1800" dirty="0" smtClean="0"/>
              <a:t>: </a:t>
            </a:r>
            <a:r>
              <a:rPr lang="ko-KR" altLang="en-US" sz="1800" dirty="0" smtClean="0"/>
              <a:t>각 단계마다 새로 추가된 요소에 초점을 맞추어 전체 이미지를 재구성하는 경향</a:t>
            </a:r>
            <a:endParaRPr lang="en-US" altLang="ko-KR" sz="1800" dirty="0">
              <a:sym typeface="Wingdings" panose="05000000000000000000" pitchFamily="2" charset="2"/>
            </a:endParaRPr>
          </a:p>
          <a:p>
            <a:r>
              <a:rPr lang="ko-KR" altLang="en-US" sz="1800" dirty="0" smtClean="0">
                <a:sym typeface="Wingdings" panose="05000000000000000000" pitchFamily="2" charset="2"/>
              </a:rPr>
              <a:t>실험 설계와의 차이점</a:t>
            </a:r>
            <a:r>
              <a:rPr lang="en-US" altLang="ko-KR" sz="1800" dirty="0" smtClean="0">
                <a:sym typeface="Wingdings" panose="05000000000000000000" pitchFamily="2" charset="2"/>
              </a:rPr>
              <a:t>: </a:t>
            </a:r>
            <a:r>
              <a:rPr lang="ko-KR" altLang="en-US" sz="1800" dirty="0" smtClean="0">
                <a:sym typeface="Wingdings" panose="05000000000000000000" pitchFamily="2" charset="2"/>
              </a:rPr>
              <a:t>모든 단계의 요소가 최종 이미지에 공존함 기대 </a:t>
            </a:r>
            <a:r>
              <a:rPr lang="en-US" altLang="ko-KR" sz="1800" dirty="0" smtClean="0">
                <a:sym typeface="Wingdings" panose="05000000000000000000" pitchFamily="2" charset="2"/>
              </a:rPr>
              <a:t> </a:t>
            </a:r>
            <a:r>
              <a:rPr lang="ko-KR" altLang="en-US" sz="1800" dirty="0" smtClean="0">
                <a:sym typeface="Wingdings" panose="05000000000000000000" pitchFamily="2" charset="2"/>
              </a:rPr>
              <a:t>실제 결과에선 각 단계에서 의미적 재해석 발생</a:t>
            </a:r>
            <a:endParaRPr lang="en-US" altLang="ko-KR" sz="1800" dirty="0" smtClean="0">
              <a:sym typeface="Wingdings" panose="05000000000000000000" pitchFamily="2" charset="2"/>
            </a:endParaRPr>
          </a:p>
          <a:p>
            <a:r>
              <a:rPr lang="en-US" altLang="ko-KR" sz="1800" dirty="0" smtClean="0">
                <a:sym typeface="Wingdings" panose="05000000000000000000" pitchFamily="2" charset="2"/>
              </a:rPr>
              <a:t>AAC </a:t>
            </a:r>
            <a:r>
              <a:rPr lang="ko-KR" altLang="en-US" sz="1800" dirty="0" smtClean="0">
                <a:sym typeface="Wingdings" panose="05000000000000000000" pitchFamily="2" charset="2"/>
              </a:rPr>
              <a:t>시스템 관점의 해석</a:t>
            </a:r>
            <a:endParaRPr lang="en-US" altLang="ko-KR" sz="1800" dirty="0" smtClean="0">
              <a:sym typeface="Wingdings" panose="05000000000000000000" pitchFamily="2" charset="2"/>
            </a:endParaRPr>
          </a:p>
          <a:p>
            <a:pPr lvl="1"/>
            <a:r>
              <a:rPr lang="ko-KR" altLang="en-US" sz="1800" dirty="0" smtClean="0">
                <a:sym typeface="Wingdings" panose="05000000000000000000" pitchFamily="2" charset="2"/>
              </a:rPr>
              <a:t>긍정적 측면</a:t>
            </a:r>
            <a:r>
              <a:rPr lang="en-US" altLang="ko-KR" sz="1800" dirty="0" smtClean="0">
                <a:sym typeface="Wingdings" panose="05000000000000000000" pitchFamily="2" charset="2"/>
              </a:rPr>
              <a:t>: </a:t>
            </a:r>
            <a:r>
              <a:rPr lang="ko-KR" altLang="en-US" sz="1800" dirty="0" smtClean="0">
                <a:sym typeface="Wingdings" panose="05000000000000000000" pitchFamily="2" charset="2"/>
              </a:rPr>
              <a:t>각 단계별 생성 이미지를 통해 환자의 의도 변화</a:t>
            </a:r>
            <a:r>
              <a:rPr lang="en-US" altLang="ko-KR" sz="1800" dirty="0" smtClean="0">
                <a:sym typeface="Wingdings" panose="05000000000000000000" pitchFamily="2" charset="2"/>
              </a:rPr>
              <a:t>/</a:t>
            </a:r>
            <a:r>
              <a:rPr lang="ko-KR" altLang="en-US" sz="1800" dirty="0" smtClean="0">
                <a:sym typeface="Wingdings" panose="05000000000000000000" pitchFamily="2" charset="2"/>
              </a:rPr>
              <a:t>목적 추적 가능</a:t>
            </a:r>
            <a:endParaRPr lang="en-US" altLang="ko-KR" sz="1800" dirty="0" smtClean="0">
              <a:sym typeface="Wingdings" panose="05000000000000000000" pitchFamily="2" charset="2"/>
            </a:endParaRPr>
          </a:p>
          <a:p>
            <a:pPr lvl="1"/>
            <a:r>
              <a:rPr lang="ko-KR" altLang="en-US" sz="1800" dirty="0" smtClean="0">
                <a:sym typeface="Wingdings" panose="05000000000000000000" pitchFamily="2" charset="2"/>
              </a:rPr>
              <a:t>개선 </a:t>
            </a:r>
            <a:r>
              <a:rPr lang="ko-KR" altLang="en-US" sz="1800" dirty="0" err="1" smtClean="0">
                <a:sym typeface="Wingdings" panose="05000000000000000000" pitchFamily="2" charset="2"/>
              </a:rPr>
              <a:t>필요점</a:t>
            </a:r>
            <a:r>
              <a:rPr lang="en-US" altLang="ko-KR" sz="1800" dirty="0" smtClean="0">
                <a:sym typeface="Wingdings" panose="05000000000000000000" pitchFamily="2" charset="2"/>
              </a:rPr>
              <a:t>: </a:t>
            </a:r>
            <a:r>
              <a:rPr lang="ko-KR" altLang="en-US" sz="1800" dirty="0" smtClean="0">
                <a:sym typeface="Wingdings" panose="05000000000000000000" pitchFamily="2" charset="2"/>
              </a:rPr>
              <a:t>원래 실험 설계의 목표였던 이전요소보존이 제대로 작동하지 않음</a:t>
            </a:r>
            <a:r>
              <a:rPr lang="en-US" altLang="ko-KR" sz="1800" dirty="0" smtClean="0">
                <a:sym typeface="Wingdings" panose="05000000000000000000" pitchFamily="2" charset="2"/>
              </a:rPr>
              <a:t>. </a:t>
            </a:r>
            <a:r>
              <a:rPr lang="ko-KR" altLang="en-US" sz="1800" dirty="0" smtClean="0">
                <a:sym typeface="Wingdings" panose="05000000000000000000" pitchFamily="2" charset="2"/>
              </a:rPr>
              <a:t>현 시스템은 마지막 요소를 강조하는 한계 보임</a:t>
            </a:r>
            <a:r>
              <a:rPr lang="en-US" altLang="ko-KR" sz="1800" dirty="0" smtClean="0">
                <a:sym typeface="Wingdings" panose="05000000000000000000" pitchFamily="2" charset="2"/>
              </a:rPr>
              <a:t>. </a:t>
            </a:r>
            <a:r>
              <a:rPr lang="ko-KR" altLang="en-US" sz="1800" dirty="0" smtClean="0">
                <a:sym typeface="Wingdings" panose="05000000000000000000" pitchFamily="2" charset="2"/>
              </a:rPr>
              <a:t>따라서 </a:t>
            </a:r>
            <a:r>
              <a:rPr lang="en-US" altLang="ko-KR" sz="1800" dirty="0" smtClean="0">
                <a:sym typeface="Wingdings" panose="05000000000000000000" pitchFamily="2" charset="2"/>
              </a:rPr>
              <a:t>AAC </a:t>
            </a:r>
            <a:r>
              <a:rPr lang="ko-KR" altLang="en-US" sz="1800" dirty="0" smtClean="0">
                <a:sym typeface="Wingdings" panose="05000000000000000000" pitchFamily="2" charset="2"/>
              </a:rPr>
              <a:t>시스템으로 반영 시 각 </a:t>
            </a:r>
            <a:r>
              <a:rPr lang="ko-KR" altLang="en-US" sz="1800" dirty="0" err="1" smtClean="0">
                <a:sym typeface="Wingdings" panose="05000000000000000000" pitchFamily="2" charset="2"/>
              </a:rPr>
              <a:t>스텝별</a:t>
            </a:r>
            <a:r>
              <a:rPr lang="ko-KR" altLang="en-US" sz="1800" dirty="0" smtClean="0">
                <a:sym typeface="Wingdings" panose="05000000000000000000" pitchFamily="2" charset="2"/>
              </a:rPr>
              <a:t> 생성이미지를 모두 보여줘야 의료들의 이해에 도움이 될 것</a:t>
            </a:r>
            <a:r>
              <a:rPr lang="en-US" altLang="ko-KR" sz="1800" dirty="0" smtClean="0">
                <a:sym typeface="Wingdings" panose="05000000000000000000" pitchFamily="2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6007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실험</a:t>
            </a:r>
            <a:r>
              <a:rPr lang="en-US" altLang="ko-KR" dirty="0" smtClean="0"/>
              <a:t>2 – 3</a:t>
            </a:r>
            <a:r>
              <a:rPr lang="ko-KR" altLang="en-US" dirty="0" smtClean="0"/>
              <a:t>단계 점진적 스케치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1</a:t>
            </a:r>
            <a:r>
              <a:rPr lang="ko-KR" altLang="en-US" dirty="0" smtClean="0"/>
              <a:t>단계</a:t>
            </a:r>
            <a:r>
              <a:rPr lang="en-US" altLang="ko-KR" dirty="0" smtClean="0"/>
              <a:t>: </a:t>
            </a:r>
            <a:r>
              <a:rPr lang="ko-KR" altLang="en-US" dirty="0" smtClean="0"/>
              <a:t>사람 얼굴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프롬프트</a:t>
            </a:r>
            <a:r>
              <a:rPr lang="en-US" altLang="ko-KR" dirty="0" smtClean="0"/>
              <a:t>:</a:t>
            </a:r>
          </a:p>
          <a:p>
            <a:r>
              <a:rPr lang="en-US" altLang="ko-KR" dirty="0" smtClean="0"/>
              <a:t>2</a:t>
            </a:r>
            <a:r>
              <a:rPr lang="ko-KR" altLang="en-US" dirty="0" smtClean="0"/>
              <a:t>단계</a:t>
            </a:r>
            <a:r>
              <a:rPr lang="en-US" altLang="ko-KR" dirty="0" smtClean="0"/>
              <a:t>: </a:t>
            </a:r>
            <a:r>
              <a:rPr lang="ko-KR" altLang="en-US" dirty="0" smtClean="0"/>
              <a:t>사람 얼굴 </a:t>
            </a:r>
            <a:r>
              <a:rPr lang="en-US" altLang="ko-KR" dirty="0" smtClean="0"/>
              <a:t>+ </a:t>
            </a:r>
          </a:p>
        </p:txBody>
      </p:sp>
    </p:spTree>
    <p:extLst>
      <p:ext uri="{BB962C8B-B14F-4D97-AF65-F5344CB8AC3E}">
        <p14:creationId xmlns:p14="http://schemas.microsoft.com/office/powerpoint/2010/main" val="2309126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실험</a:t>
            </a:r>
            <a:r>
              <a:rPr lang="en-US" altLang="ko-KR" dirty="0" smtClean="0"/>
              <a:t>2 - ControlNet</a:t>
            </a:r>
            <a:r>
              <a:rPr lang="ko-KR" altLang="en-US" dirty="0" smtClean="0"/>
              <a:t>의 역할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Without ControlNet (</a:t>
            </a:r>
            <a:r>
              <a:rPr lang="ko-KR" altLang="en-US" dirty="0" smtClean="0"/>
              <a:t>프롬프트만</a:t>
            </a:r>
            <a:r>
              <a:rPr lang="en-US" altLang="ko-KR" dirty="0" smtClean="0"/>
              <a:t>):</a:t>
            </a:r>
          </a:p>
          <a:p>
            <a:pPr lvl="1"/>
            <a:r>
              <a:rPr lang="en-US" altLang="ko-KR" dirty="0" smtClean="0"/>
              <a:t>1</a:t>
            </a:r>
            <a:r>
              <a:rPr lang="ko-KR" altLang="en-US" dirty="0" smtClean="0"/>
              <a:t>단계</a:t>
            </a:r>
            <a:r>
              <a:rPr lang="en-US" altLang="ko-KR" dirty="0" smtClean="0">
                <a:sym typeface="Wingdings" panose="05000000000000000000" pitchFamily="2" charset="2"/>
              </a:rPr>
              <a:t>2</a:t>
            </a:r>
            <a:r>
              <a:rPr lang="ko-KR" altLang="en-US" dirty="0" smtClean="0">
                <a:sym typeface="Wingdings" panose="05000000000000000000" pitchFamily="2" charset="2"/>
              </a:rPr>
              <a:t>단계</a:t>
            </a:r>
            <a:r>
              <a:rPr lang="en-US" altLang="ko-KR" dirty="0" smtClean="0">
                <a:sym typeface="Wingdings" panose="05000000000000000000" pitchFamily="2" charset="2"/>
              </a:rPr>
              <a:t>: </a:t>
            </a:r>
          </a:p>
          <a:p>
            <a:pPr lvl="1"/>
            <a:r>
              <a:rPr lang="ko-KR" altLang="en-US" dirty="0" smtClean="0">
                <a:sym typeface="Wingdings" panose="05000000000000000000" pitchFamily="2" charset="2"/>
              </a:rPr>
              <a:t>완전히 새로운 구도로 재구성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pPr lvl="1"/>
            <a:r>
              <a:rPr lang="ko-KR" altLang="en-US" dirty="0" smtClean="0"/>
              <a:t>기존 단계 의미 약화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점진적 대화 불가</a:t>
            </a:r>
            <a:endParaRPr lang="en-US" altLang="ko-KR" dirty="0" smtClean="0"/>
          </a:p>
          <a:p>
            <a:r>
              <a:rPr lang="en-US" altLang="ko-KR" dirty="0" smtClean="0"/>
              <a:t>With ControlNet</a:t>
            </a:r>
          </a:p>
          <a:p>
            <a:pPr lvl="1"/>
            <a:r>
              <a:rPr lang="en-US" altLang="ko-KR" dirty="0" smtClean="0"/>
              <a:t>1</a:t>
            </a:r>
            <a:r>
              <a:rPr lang="ko-KR" altLang="en-US" dirty="0" smtClean="0"/>
              <a:t>단계</a:t>
            </a:r>
            <a:r>
              <a:rPr lang="en-US" altLang="ko-KR" dirty="0" smtClean="0">
                <a:sym typeface="Wingdings" panose="05000000000000000000" pitchFamily="2" charset="2"/>
              </a:rPr>
              <a:t>2</a:t>
            </a:r>
            <a:r>
              <a:rPr lang="ko-KR" altLang="en-US" dirty="0" smtClean="0">
                <a:sym typeface="Wingdings" panose="05000000000000000000" pitchFamily="2" charset="2"/>
              </a:rPr>
              <a:t>단계</a:t>
            </a:r>
            <a:r>
              <a:rPr lang="en-US" altLang="ko-KR" dirty="0" smtClean="0">
                <a:sym typeface="Wingdings" panose="05000000000000000000" pitchFamily="2" charset="2"/>
              </a:rPr>
              <a:t>3</a:t>
            </a:r>
            <a:r>
              <a:rPr lang="ko-KR" altLang="en-US" dirty="0" smtClean="0">
                <a:sym typeface="Wingdings" panose="05000000000000000000" pitchFamily="2" charset="2"/>
              </a:rPr>
              <a:t>단계</a:t>
            </a:r>
            <a:r>
              <a:rPr lang="en-US" altLang="ko-KR" dirty="0" smtClean="0">
                <a:sym typeface="Wingdings" panose="05000000000000000000" pitchFamily="2" charset="2"/>
              </a:rPr>
              <a:t>: </a:t>
            </a:r>
            <a:r>
              <a:rPr lang="ko-KR" altLang="en-US" dirty="0" smtClean="0">
                <a:sym typeface="Wingdings" panose="05000000000000000000" pitchFamily="2" charset="2"/>
              </a:rPr>
              <a:t>이전 요소 위치 모두 유지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pPr lvl="1"/>
            <a:r>
              <a:rPr lang="ko-KR" altLang="en-US" dirty="0" smtClean="0">
                <a:sym typeface="Wingdings" panose="05000000000000000000" pitchFamily="2" charset="2"/>
              </a:rPr>
              <a:t>점진적 정보 추가 가능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pPr lvl="1"/>
            <a:r>
              <a:rPr lang="ko-KR" altLang="en-US" dirty="0" smtClean="0">
                <a:sym typeface="Wingdings" panose="05000000000000000000" pitchFamily="2" charset="2"/>
              </a:rPr>
              <a:t>자연스러운 대화 흐름 지원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9388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실험</a:t>
            </a:r>
            <a:r>
              <a:rPr lang="en-US" altLang="ko-KR" dirty="0" smtClean="0"/>
              <a:t>3 – </a:t>
            </a:r>
            <a:r>
              <a:rPr lang="ko-KR" altLang="en-US" dirty="0" err="1" smtClean="0"/>
              <a:t>적응형</a:t>
            </a:r>
            <a:r>
              <a:rPr lang="ko-KR" altLang="en-US" dirty="0" smtClean="0"/>
              <a:t> </a:t>
            </a:r>
            <a:r>
              <a:rPr lang="en-US" altLang="ko-KR" dirty="0" smtClean="0"/>
              <a:t>AAC </a:t>
            </a:r>
            <a:r>
              <a:rPr lang="ko-KR" altLang="en-US" dirty="0" smtClean="0"/>
              <a:t>시스템 </a:t>
            </a:r>
            <a:r>
              <a:rPr lang="ko-KR" altLang="en-US" dirty="0" err="1" smtClean="0"/>
              <a:t>아키텍쳐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전체 흐름</a:t>
            </a:r>
            <a:r>
              <a:rPr lang="en-US" altLang="ko-KR" dirty="0" smtClean="0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ko-KR" altLang="en-US" dirty="0"/>
              <a:t>환자 스케치 입력 </a:t>
            </a:r>
            <a:r>
              <a:rPr lang="en-US" altLang="ko-KR" dirty="0"/>
              <a:t>(</a:t>
            </a:r>
            <a:r>
              <a:rPr lang="ko-KR" altLang="en-US" dirty="0"/>
              <a:t>터치스크린</a:t>
            </a:r>
            <a:r>
              <a:rPr lang="en-US" altLang="ko-KR" dirty="0"/>
              <a:t>/</a:t>
            </a:r>
            <a:r>
              <a:rPr lang="ko-KR" altLang="en-US" dirty="0"/>
              <a:t>태블릿</a:t>
            </a:r>
            <a:r>
              <a:rPr lang="en-US" altLang="ko-KR" dirty="0"/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ko-KR" altLang="en-US" dirty="0"/>
              <a:t>스케치 분석 </a:t>
            </a:r>
            <a:r>
              <a:rPr lang="en-US" altLang="ko-KR" dirty="0"/>
              <a:t>(Stroke </a:t>
            </a:r>
            <a:r>
              <a:rPr lang="ko-KR" altLang="en-US" dirty="0"/>
              <a:t>개수</a:t>
            </a:r>
            <a:r>
              <a:rPr lang="en-US" altLang="ko-KR" dirty="0"/>
              <a:t>, </a:t>
            </a:r>
            <a:r>
              <a:rPr lang="ko-KR" altLang="en-US" dirty="0"/>
              <a:t>복잡도 점수</a:t>
            </a:r>
            <a:r>
              <a:rPr lang="en-US" altLang="ko-KR" dirty="0"/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ko-KR" altLang="en-US" dirty="0"/>
              <a:t>환자 중증도 추정 </a:t>
            </a:r>
            <a:r>
              <a:rPr lang="en-US" altLang="ko-KR" dirty="0"/>
              <a:t>(</a:t>
            </a:r>
            <a:r>
              <a:rPr lang="ko-KR" altLang="en-US" dirty="0"/>
              <a:t>중증</a:t>
            </a:r>
            <a:r>
              <a:rPr lang="en-US" altLang="ko-KR" dirty="0"/>
              <a:t>/</a:t>
            </a:r>
            <a:r>
              <a:rPr lang="ko-KR" altLang="en-US" dirty="0"/>
              <a:t>중등도</a:t>
            </a:r>
            <a:r>
              <a:rPr lang="en-US" altLang="ko-KR" dirty="0"/>
              <a:t>/</a:t>
            </a:r>
            <a:r>
              <a:rPr lang="ko-KR" altLang="en-US" dirty="0"/>
              <a:t>경증</a:t>
            </a:r>
            <a:r>
              <a:rPr lang="en-US" altLang="ko-KR" dirty="0"/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ko-KR" altLang="en-US" dirty="0"/>
              <a:t>최적 </a:t>
            </a:r>
            <a:r>
              <a:rPr lang="en-US" altLang="ko-KR" dirty="0"/>
              <a:t>CFG Scale </a:t>
            </a:r>
            <a:r>
              <a:rPr lang="ko-KR" altLang="en-US" dirty="0"/>
              <a:t>자동 선택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ko-KR" dirty="0"/>
              <a:t>ControlNet </a:t>
            </a:r>
            <a:r>
              <a:rPr lang="ko-KR" altLang="en-US" dirty="0"/>
              <a:t>이미지 생성</a:t>
            </a:r>
          </a:p>
          <a:p>
            <a:pPr marL="914400" lvl="1" indent="-457200">
              <a:buFont typeface="+mj-lt"/>
              <a:buAutoNum type="arabicPeriod"/>
            </a:pPr>
            <a:r>
              <a:rPr lang="ko-KR" altLang="en-US" dirty="0"/>
              <a:t>명확한 이미지 출력</a:t>
            </a:r>
          </a:p>
          <a:p>
            <a:pPr marL="914400" lvl="1" indent="-457200">
              <a:buFont typeface="+mj-lt"/>
              <a:buAutoNum type="arabicPeriod"/>
            </a:pPr>
            <a:r>
              <a:rPr lang="ko-KR" altLang="en-US" dirty="0"/>
              <a:t>의료진 이해 및 대응</a:t>
            </a:r>
          </a:p>
          <a:p>
            <a:pPr marL="914400" lvl="1" indent="-457200">
              <a:buFont typeface="+mj-lt"/>
              <a:buAutoNum type="arabicPeriod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3210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기대효과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ko-KR" altLang="en-US" dirty="0" err="1" smtClean="0"/>
              <a:t>중증도나</a:t>
            </a:r>
            <a:r>
              <a:rPr lang="ko-KR" altLang="en-US" dirty="0" smtClean="0"/>
              <a:t> 그림 실력과 무관하게 의사소통 가능</a:t>
            </a:r>
            <a:endParaRPr lang="en-US" altLang="ko-KR" dirty="0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 smtClean="0"/>
              <a:t>통증 및 감정의 강도 등 복잡한 표현을 </a:t>
            </a:r>
            <a:r>
              <a:rPr lang="en-US" altLang="ko-KR" dirty="0" smtClean="0"/>
              <a:t>CFG</a:t>
            </a:r>
            <a:r>
              <a:rPr lang="ko-KR" altLang="en-US" dirty="0" smtClean="0"/>
              <a:t>최적화로 표현 가능</a:t>
            </a:r>
            <a:endParaRPr lang="en-US" altLang="ko-KR" dirty="0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 smtClean="0"/>
              <a:t>점진적 추가 기능으로 대화처럼 자연스러운 소통 가능</a:t>
            </a:r>
            <a:endParaRPr lang="en-US" altLang="ko-KR" dirty="0" smtClean="0"/>
          </a:p>
          <a:p>
            <a:pPr marL="514350" indent="-514350">
              <a:buFont typeface="+mj-lt"/>
              <a:buAutoNum type="arabicPeriod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4021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한계 및 향후 연구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 smtClean="0"/>
              <a:t>한계</a:t>
            </a:r>
            <a:r>
              <a:rPr lang="en-US" altLang="ko-KR" dirty="0" smtClean="0"/>
              <a:t>:</a:t>
            </a:r>
          </a:p>
          <a:p>
            <a:pPr lvl="1"/>
            <a:r>
              <a:rPr lang="en-US" altLang="ko-KR" dirty="0"/>
              <a:t>QuickDraw </a:t>
            </a:r>
            <a:r>
              <a:rPr lang="ko-KR" altLang="en-US" dirty="0"/>
              <a:t>스케치 ≠ 중증 환자 스케치</a:t>
            </a:r>
            <a:br>
              <a:rPr lang="ko-KR" altLang="en-US" dirty="0"/>
            </a:br>
            <a:r>
              <a:rPr lang="ko-KR" altLang="en-US" dirty="0"/>
              <a:t>→ 실제 환자 스케치 수집 필요</a:t>
            </a:r>
          </a:p>
          <a:p>
            <a:pPr lvl="1"/>
            <a:r>
              <a:rPr lang="en-US" altLang="ko-KR" dirty="0"/>
              <a:t>10</a:t>
            </a:r>
            <a:r>
              <a:rPr lang="ko-KR" altLang="en-US" dirty="0"/>
              <a:t>개 카테고리로는 모든 </a:t>
            </a:r>
            <a:r>
              <a:rPr lang="en-US" altLang="ko-KR" dirty="0"/>
              <a:t>AAC </a:t>
            </a:r>
            <a:r>
              <a:rPr lang="ko-KR" altLang="en-US" dirty="0"/>
              <a:t>요구 커버 불가</a:t>
            </a:r>
            <a:br>
              <a:rPr lang="ko-KR" altLang="en-US" dirty="0"/>
            </a:br>
            <a:r>
              <a:rPr lang="ko-KR" altLang="en-US" dirty="0"/>
              <a:t>→ 후속 연구에서 확장 </a:t>
            </a:r>
            <a:r>
              <a:rPr lang="en-US" altLang="ko-KR" dirty="0"/>
              <a:t>(50+ </a:t>
            </a:r>
            <a:r>
              <a:rPr lang="ko-KR" altLang="en-US" dirty="0"/>
              <a:t>카테고리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문화적 차이 </a:t>
            </a:r>
            <a:r>
              <a:rPr lang="en-US" altLang="ko-KR" dirty="0"/>
              <a:t>(</a:t>
            </a:r>
            <a:r>
              <a:rPr lang="ko-KR" altLang="en-US" dirty="0"/>
              <a:t>은유가 </a:t>
            </a:r>
            <a:r>
              <a:rPr lang="ko-KR" altLang="en-US" dirty="0" err="1"/>
              <a:t>문화권별로</a:t>
            </a:r>
            <a:r>
              <a:rPr lang="ko-KR" altLang="en-US" dirty="0"/>
              <a:t> 다름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→ </a:t>
            </a:r>
            <a:r>
              <a:rPr lang="ko-KR" altLang="en-US" dirty="0"/>
              <a:t>한국 문화 특화 연구 </a:t>
            </a:r>
            <a:r>
              <a:rPr lang="ko-KR" altLang="en-US" dirty="0" smtClean="0"/>
              <a:t>필요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 smtClean="0"/>
              <a:t>향후 연구</a:t>
            </a:r>
            <a:r>
              <a:rPr lang="en-US" altLang="ko-KR" dirty="0" smtClean="0"/>
              <a:t>:</a:t>
            </a:r>
          </a:p>
          <a:p>
            <a:pPr lvl="1"/>
            <a:r>
              <a:rPr lang="en-US" altLang="ko-KR" dirty="0"/>
              <a:t>Diffusion </a:t>
            </a:r>
            <a:r>
              <a:rPr lang="ko-KR" altLang="en-US" dirty="0"/>
              <a:t>모델 적용 </a:t>
            </a:r>
            <a:r>
              <a:rPr lang="en-US" altLang="ko-KR" dirty="0"/>
              <a:t>(</a:t>
            </a:r>
            <a:r>
              <a:rPr lang="ko-KR" altLang="en-US" dirty="0"/>
              <a:t>더 안정적 생성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다국어</a:t>
            </a:r>
            <a:r>
              <a:rPr lang="en-US" altLang="ko-KR" dirty="0"/>
              <a:t>/</a:t>
            </a:r>
            <a:r>
              <a:rPr lang="ko-KR" altLang="en-US" dirty="0"/>
              <a:t>다문화 </a:t>
            </a:r>
            <a:r>
              <a:rPr lang="ko-KR" altLang="en-US" dirty="0" err="1"/>
              <a:t>데이터셋</a:t>
            </a:r>
            <a:r>
              <a:rPr lang="ko-KR" altLang="en-US" dirty="0"/>
              <a:t> 구축</a:t>
            </a:r>
          </a:p>
          <a:p>
            <a:pPr lvl="1"/>
            <a:r>
              <a:rPr lang="ko-KR" altLang="en-US" dirty="0"/>
              <a:t>실제 의료 현장 파일럿 </a:t>
            </a:r>
            <a:r>
              <a:rPr lang="ko-KR" altLang="en-US" dirty="0" smtClean="0"/>
              <a:t>테스트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181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573</Words>
  <Application>Microsoft Office PowerPoint</Application>
  <PresentationFormat>와이드스크린</PresentationFormat>
  <Paragraphs>114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Arial</vt:lpstr>
      <vt:lpstr>Wingdings</vt:lpstr>
      <vt:lpstr>Office 테마</vt:lpstr>
      <vt:lpstr>ControlNet 기반 Adaptive AAC 이미지 생성 시스템</vt:lpstr>
      <vt:lpstr>목차</vt:lpstr>
      <vt:lpstr>프로젝트 개요</vt:lpstr>
      <vt:lpstr>AAC란?</vt:lpstr>
      <vt:lpstr>현재 AAC 시스템의 한계</vt:lpstr>
      <vt:lpstr>우리의 솔루션</vt:lpstr>
      <vt:lpstr>데이터셋 선정 전략</vt:lpstr>
      <vt:lpstr>실험1 – 스케치 품질별 CFG Scale 최적화</vt:lpstr>
      <vt:lpstr>실험2 – 점진적 의사소통</vt:lpstr>
      <vt:lpstr>실험2 결과</vt:lpstr>
      <vt:lpstr>실험2 – 3단계 점진적 스케치</vt:lpstr>
      <vt:lpstr>실험2 - ControlNet의 역할</vt:lpstr>
      <vt:lpstr>실험3 – 적응형 AAC 시스템 아키텍쳐</vt:lpstr>
      <vt:lpstr>기대효과</vt:lpstr>
      <vt:lpstr>한계 및 향후 연구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ControlNet 기반 Adaptive AAC 이미지 생성 시스템</dc:title>
  <dc:creator>gram</dc:creator>
  <cp:lastModifiedBy>gram</cp:lastModifiedBy>
  <cp:revision>6</cp:revision>
  <dcterms:created xsi:type="dcterms:W3CDTF">2026-02-15T14:33:56Z</dcterms:created>
  <dcterms:modified xsi:type="dcterms:W3CDTF">2026-02-15T17:19:02Z</dcterms:modified>
</cp:coreProperties>
</file>